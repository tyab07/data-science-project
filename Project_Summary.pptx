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NHANES Depression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From Replication to Advanced Optimization</a:t>
            </a:r>
          </a:p>
          <a:p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/>
            </a:pPr>
            <a:r>
              <a:t>Objective: Replicate and improve upon clinical depression prediction models.</a:t>
            </a:r>
          </a:p>
          <a:p>
            <a:pPr>
              <a:spcAft>
                <a:spcPts val="1000"/>
              </a:spcAft>
              <a:defRPr sz="1800"/>
            </a:pPr>
            <a:r>
              <a:t>Based on Vu et al. (2025) NHANES study.</a:t>
            </a:r>
          </a:p>
          <a:p>
            <a:pPr>
              <a:spcAft>
                <a:spcPts val="1000"/>
              </a:spcAft>
              <a:defRPr sz="1800"/>
            </a:pPr>
            <a:r>
              <a:t>Dataset: National Health and Nutrition Examination Survey (2005-2018).</a:t>
            </a:r>
          </a:p>
          <a:p>
            <a:pPr>
              <a:spcAft>
                <a:spcPts val="1000"/>
              </a:spcAft>
              <a:defRPr sz="1800"/>
            </a:pPr>
            <a:r>
              <a:t>Goal: Move beyond baseline benchmarks using advanced ML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Task 2: Baseline Replication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/>
            </a:pPr>
            <a:r>
              <a:t>Subset of ~10,000 NHANES participants.</a:t>
            </a:r>
          </a:p>
          <a:p>
            <a:pPr>
              <a:spcAft>
                <a:spcPts val="1000"/>
              </a:spcAft>
              <a:defRPr sz="1800"/>
            </a:pPr>
            <a:r>
              <a:t>Methodology: Random Undersampling to handle class imbalance.</a:t>
            </a:r>
          </a:p>
          <a:p>
            <a:pPr>
              <a:spcAft>
                <a:spcPts val="1000"/>
              </a:spcAft>
              <a:defRPr sz="1800"/>
            </a:pPr>
            <a:r>
              <a:t>Baseline Models: SVM, Random Forest, XGBoost, Logistic Regression.</a:t>
            </a:r>
          </a:p>
          <a:p>
            <a:pPr>
              <a:spcAft>
                <a:spcPts val="1000"/>
              </a:spcAft>
              <a:defRPr sz="1800"/>
            </a:pPr>
            <a:r>
              <a:t>Result: Successfully matched paper benchmarks with AUC 0.702.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Task 3: Moving Beyond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/>
            </a:pPr>
            <a:r>
              <a:t>Challenges: Data loss from undersampling, limited feature interaction.</a:t>
            </a:r>
          </a:p>
          <a:p>
            <a:pPr>
              <a:spcAft>
                <a:spcPts val="1000"/>
              </a:spcAft>
              <a:defRPr sz="1800"/>
            </a:pPr>
            <a:r>
              <a:t>Goal: Optimize performance using the full 40k+ participant pool.</a:t>
            </a:r>
          </a:p>
          <a:p>
            <a:pPr>
              <a:spcAft>
                <a:spcPts val="1000"/>
              </a:spcAft>
              <a:defRPr sz="1800"/>
            </a:pPr>
            <a:r>
              <a:t>Requirement: Professional, GPU-accelerated infrastructure (T4 GPUs).</a:t>
            </a:r>
          </a:p>
          <a:p>
            <a:pPr>
              <a:spcAft>
                <a:spcPts val="1000"/>
              </a:spcAft>
              <a:defRPr sz="1800"/>
            </a:pPr>
            <a:r>
              <a:t>Shift: From simple classification to a high-fidelity diagnostic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Task 3: Technical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/>
            </a:pPr>
            <a:r>
              <a:t>SMOTE Oversampling: Rebalanced 8% minority without losing clinical variance.</a:t>
            </a:r>
          </a:p>
          <a:p>
            <a:pPr>
              <a:spcAft>
                <a:spcPts val="1000"/>
              </a:spcAft>
              <a:defRPr sz="1800"/>
            </a:pPr>
            <a:r>
              <a:t>Feature Engineering: 15+ complex biological and socioeconomic terms.</a:t>
            </a:r>
          </a:p>
          <a:p>
            <a:pPr>
              <a:spcAft>
                <a:spcPts val="1000"/>
              </a:spcAft>
              <a:defRPr sz="1800"/>
            </a:pPr>
            <a:r>
              <a:t>Ensemble Logic: GPU-Native Voting Ensemble.</a:t>
            </a:r>
          </a:p>
          <a:p>
            <a:pPr>
              <a:spcAft>
                <a:spcPts val="1000"/>
              </a:spcAft>
              <a:defRPr sz="1800"/>
            </a:pPr>
            <a:r>
              <a:t>Threshold Optimization: Custom cutoff selection to maximize F1-score.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Comparative Performance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Original Paper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Task 2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Task 3 (New)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0.758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91.2%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Visualizing Performance: Radar Comparison</a:t>
            </a:r>
          </a:p>
        </p:txBody>
      </p:sp>
      <p:pic>
        <p:nvPicPr>
          <p:cNvPr id="4" name="Picture 3" descr="rad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7375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Visualizing Performance: Model Comparison</a:t>
            </a:r>
          </a:p>
        </p:txBody>
      </p:sp>
      <p:pic>
        <p:nvPicPr>
          <p:cNvPr id="4" name="Picture 3" descr="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924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Ablation Study: Feature Importance</a:t>
            </a:r>
          </a:p>
        </p:txBody>
      </p:sp>
      <p:pic>
        <p:nvPicPr>
          <p:cNvPr id="4" name="Picture 3" descr="ablation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924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Ablation Study: Waterfall Analysis</a:t>
            </a:r>
          </a:p>
        </p:txBody>
      </p:sp>
      <p:pic>
        <p:nvPicPr>
          <p:cNvPr id="4" name="Picture 3" descr="ablation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9509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